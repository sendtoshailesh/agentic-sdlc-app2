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Agentic SDLC: from one requirement to tested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9D3E0"/>
                </a:solidFill>
                <a:latin typeface="Calibri"/>
              </a:rPr>
              <a:t>A 5-person team where AI agents write every artifact and humans review &amp; merge every PR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2011680" cy="548640"/>
          </a:xfrm>
          <a:prstGeom prst="roundRect">
            <a:avLst>
              <a:gd name="adj" fmla="val 12000"/>
            </a:avLst>
          </a:prstGeom>
          <a:solidFill>
            <a:srgbClr val="2F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20116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148840"/>
            <a:ext cx="2011680" cy="2011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F6B7A"/>
                </a:solidFill>
                <a:latin typeface="Calibri"/>
              </a:rPr>
              <a:t>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1828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brd-agent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user-story-agent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F6B7A"/>
                </a:solidFill>
                <a:latin typeface="Calibri"/>
              </a:rPr>
              <a:t>OUTPUT (as a PR)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BRD + GitHub Issues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96896" y="2971800"/>
            <a:ext cx="219456" cy="320040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52928" y="1600200"/>
            <a:ext cx="2011680" cy="548640"/>
          </a:xfrm>
          <a:prstGeom prst="roundRect">
            <a:avLst>
              <a:gd name="adj" fmla="val 12000"/>
            </a:avLst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2928" y="1600200"/>
            <a:ext cx="20116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Architect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52928" y="2148840"/>
            <a:ext cx="2011680" cy="2011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4368" y="22402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F6B7A"/>
                </a:solidFill>
                <a:latin typeface="Calibri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468880"/>
            <a:ext cx="1828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design-agent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+ Copilot coding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44368" y="32004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F6B7A"/>
                </a:solidFill>
                <a:latin typeface="Calibri"/>
              </a:rPr>
              <a:t>OUTPUT (as a PR)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4368" y="342900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Design doc, schema,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[DATABASE] PRs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901184" y="2971800"/>
            <a:ext cx="219456" cy="320040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157216" y="1600200"/>
            <a:ext cx="2011680" cy="548640"/>
          </a:xfrm>
          <a:prstGeom prst="roundRect">
            <a:avLst>
              <a:gd name="adj" fmla="val 12000"/>
            </a:avLst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57216" y="1600200"/>
            <a:ext cx="20116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Backend Dev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57216" y="2148840"/>
            <a:ext cx="2011680" cy="2011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48655" y="22402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F6B7A"/>
                </a:solidFill>
                <a:latin typeface="Calibri"/>
              </a:rPr>
              <a:t>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5" y="2468880"/>
            <a:ext cx="1828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Copilot coding agent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unit-test-agent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8655" y="32004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F6B7A"/>
                </a:solidFill>
                <a:latin typeface="Calibri"/>
              </a:rPr>
              <a:t>OUTPUT (as a PR)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48655" y="342900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[BACKEND] API PRs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+ Jest tests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7205472" y="2971800"/>
            <a:ext cx="219456" cy="320040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61504" y="1600200"/>
            <a:ext cx="2011680" cy="548640"/>
          </a:xfrm>
          <a:prstGeom prst="roundRect">
            <a:avLst>
              <a:gd name="adj" fmla="val 12000"/>
            </a:avLst>
          </a:prstGeom>
          <a:solidFill>
            <a:srgbClr val="1A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504" y="1600200"/>
            <a:ext cx="20116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UI Dev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61504" y="2148840"/>
            <a:ext cx="2011680" cy="2011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52944" y="22402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F6B7A"/>
                </a:solidFill>
                <a:latin typeface="Calibri"/>
              </a:rPr>
              <a:t>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52944" y="2468880"/>
            <a:ext cx="1828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Copilot coding 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52944" y="32004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F6B7A"/>
                </a:solidFill>
                <a:latin typeface="Calibri"/>
              </a:rPr>
              <a:t>OUTPUT (as a PR)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2944" y="342900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[FRONTEND] React PRs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with data-testids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509759" y="2971800"/>
            <a:ext cx="219456" cy="320040"/>
          </a:xfrm>
          <a:prstGeom prst="rightArrow">
            <a:avLst/>
          </a:prstGeom>
          <a:solidFill>
            <a:srgbClr val="5F6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765792" y="1600200"/>
            <a:ext cx="2011680" cy="548640"/>
          </a:xfrm>
          <a:prstGeom prst="roundRect">
            <a:avLst>
              <a:gd name="adj" fmla="val 12000"/>
            </a:avLst>
          </a:prstGeom>
          <a:solidFill>
            <a:srgbClr val="C7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65792" y="1600200"/>
            <a:ext cx="201168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QA Engineer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765792" y="2148840"/>
            <a:ext cx="2011680" cy="2011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57232" y="224028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F6B7A"/>
                </a:solidFill>
                <a:latin typeface="Calibri"/>
              </a:rPr>
              <a:t>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57232" y="2468880"/>
            <a:ext cx="18288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22222"/>
                </a:solidFill>
                <a:latin typeface="Calibri"/>
              </a:rPr>
              <a:t>playwright-agent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57232" y="32004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F6B7A"/>
                </a:solidFill>
                <a:latin typeface="Calibri"/>
              </a:rPr>
              <a:t>OUTPUT (as a PR)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57232" y="3429000"/>
            <a:ext cx="18288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E2E tests run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against live app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389120"/>
            <a:ext cx="11091672" cy="457200"/>
          </a:xfrm>
          <a:prstGeom prst="roundRect">
            <a:avLst>
              <a:gd name="adj" fmla="val 12000"/>
            </a:avLst>
          </a:prstGeom>
          <a:solidFill>
            <a:srgbClr val="E8F0FE"/>
          </a:solidFill>
          <a:ln w="12700">
            <a:solidFill>
              <a:srgbClr val="2F6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389120"/>
            <a:ext cx="1109167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1B2A41"/>
                </a:solidFill>
                <a:latin typeface="Calibri"/>
              </a:rPr>
              <a:t>review-agent + human review at every step: approve and merge, or request changes and the agent updates the same PR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074920"/>
            <a:ext cx="566928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2A41"/>
                </a:solidFill>
                <a:latin typeface="Calibri"/>
              </a:rPr>
              <a:t>Worked example in this repo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394960"/>
            <a:ext cx="566928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Perk Application Platform: Admins create discount Offers, matching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transactions get the discount, Redemptions are logged and exported as CSV.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The git history replays the full run, PR #2 (BRD) → PR #24 (Playwright).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074920"/>
            <a:ext cx="5029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B2A41"/>
                </a:solidFill>
                <a:latin typeface="Calibri"/>
              </a:rPr>
              <a:t>Starting point &amp; stack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394960"/>
            <a:ext cx="5029200" cy="12801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Only JWT login/register is pre-built; the feature is built on the day.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Node + Express + Prisma/SQLite · React + Vite + TS · Jest · Playwright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Agents run from GitHub's Agents tab or VS Code Cloud agents.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How it's wired, and what it teaches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C9D3E0"/>
                </a:solidFill>
                <a:latin typeface="Calibri"/>
              </a:rPr>
              <a:t>Agents are configured as files in the repo, so the whole pipeline is versioned, reviewable, and reusable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606040" cy="73152"/>
          </a:xfrm>
          <a:prstGeom prst="rect">
            <a:avLst/>
          </a:prstGeom>
          <a:solidFill>
            <a:srgbClr val="2F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36192"/>
            <a:ext cx="2606040" cy="2514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2331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2F6FDB"/>
                </a:solidFill>
                <a:latin typeface="Calibri"/>
              </a:rPr>
              <a:t>Agent  =  persona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29968"/>
            <a:ext cx="2331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F6B7A"/>
                </a:solidFill>
                <a:latin typeface="Calibri"/>
              </a:rPr>
              <a:t>.github/agents/*.agent.md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423160"/>
            <a:ext cx="2331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• Role, inputs, output, handoff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• 7 agents: brd, user-story, plan, design, unit-test, playwright,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74136" y="1463040"/>
            <a:ext cx="2606040" cy="73152"/>
          </a:xfrm>
          <a:prstGeom prst="rect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74136" y="1536192"/>
            <a:ext cx="2606040" cy="2514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1296" y="1645920"/>
            <a:ext cx="2331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B4FC9"/>
                </a:solidFill>
                <a:latin typeface="Calibri"/>
              </a:rPr>
              <a:t>Skill  =  playbook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296" y="2029968"/>
            <a:ext cx="2331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F6B7A"/>
                </a:solidFill>
                <a:latin typeface="Calibri"/>
              </a:rPr>
              <a:t>.github/skills/*/SKILL.md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423160"/>
            <a:ext cx="2331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• Detailed how-to each agent follows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• e.g. create-brd, create-design-doc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• Swap skills to change the stack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1" y="1463040"/>
            <a:ext cx="2606040" cy="73152"/>
          </a:xfrm>
          <a:prstGeom prst="rect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1" y="1536192"/>
            <a:ext cx="2606040" cy="2514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645920"/>
            <a:ext cx="2331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5D39"/>
                </a:solidFill>
                <a:latin typeface="Calibri"/>
              </a:rPr>
              <a:t>Rules  =  guardrails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2029968"/>
            <a:ext cx="2331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F6B7A"/>
                </a:solidFill>
                <a:latin typeface="Calibri"/>
              </a:rPr>
              <a:t>AGENTS.md + copilot-instructions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2423160"/>
            <a:ext cx="2331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• Files each issue type may touch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• Do-not-touch: auth, User model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• Build order: DB → API → UI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• PR format + Closes #N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25128" y="1463040"/>
            <a:ext cx="2606040" cy="73152"/>
          </a:xfrm>
          <a:prstGeom prst="rect">
            <a:avLst/>
          </a:prstGeom>
          <a:solidFill>
            <a:srgbClr val="1A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25128" y="1536192"/>
            <a:ext cx="2606040" cy="2514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62288" y="1645920"/>
            <a:ext cx="2331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8F7A"/>
                </a:solidFill>
                <a:latin typeface="Calibri"/>
              </a:rPr>
              <a:t>Glue  =  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2029968"/>
            <a:ext cx="23317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>
                <a:solidFill>
                  <a:srgbClr val="5F6B7A"/>
                </a:solidFill>
                <a:latin typeface="Calibri"/>
              </a:rPr>
              <a:t>.github/workflows/create-issues.yml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2423160"/>
            <a:ext cx="2331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• issues/*.md merged to main become labelled GitHub Issues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>• Issues are assigned to the Copilot coding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B2A41"/>
                </a:solidFill>
                <a:latin typeface="Calibri"/>
              </a:rPr>
              <a:t>Lessons from the run (each rule exists because an agent got it wrong)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4800600"/>
            <a:ext cx="146304" cy="146304"/>
          </a:xfrm>
          <a:prstGeom prst="ellipse">
            <a:avLst/>
          </a:prstGeom>
          <a:solidFill>
            <a:srgbClr val="2F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709160"/>
            <a:ext cx="5303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/>
            </a:r>
            <a:r>
              <a:rPr b="1" sz="1200">
                <a:solidFill>
                  <a:srgbClr val="1B2A41"/>
                </a:solidFill>
              </a:rPr>
              <a:t>Order matters:  </a:t>
            </a:r>
            <a:r>
              <a:rPr sz="1200">
                <a:solidFill>
                  <a:srgbClr val="222222"/>
                </a:solidFill>
              </a:rPr>
              <a:t>DB → backend → frontend, each layer on a working one</a:t>
            </a:r>
          </a:p>
        </p:txBody>
      </p:sp>
      <p:sp>
        <p:nvSpPr>
          <p:cNvPr id="28" name="Oval 27"/>
          <p:cNvSpPr/>
          <p:nvPr/>
        </p:nvSpPr>
        <p:spPr>
          <a:xfrm>
            <a:off x="6172200" y="4800600"/>
            <a:ext cx="146304" cy="146304"/>
          </a:xfrm>
          <a:prstGeom prst="ellipse">
            <a:avLst/>
          </a:prstGeom>
          <a:solidFill>
            <a:srgbClr val="7B4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4709160"/>
            <a:ext cx="5303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/>
            </a:r>
            <a:r>
              <a:rPr b="1" sz="1200">
                <a:solidFill>
                  <a:srgbClr val="1B2A41"/>
                </a:solidFill>
              </a:rPr>
              <a:t>Be explicit:  </a:t>
            </a:r>
            <a:r>
              <a:rPr sz="1200">
                <a:solidFill>
                  <a:srgbClr val="222222"/>
                </a:solidFill>
              </a:rPr>
              <a:t>require enums, seed data, data-testids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5367528"/>
            <a:ext cx="146304" cy="146304"/>
          </a:xfrm>
          <a:prstGeom prst="ellipse">
            <a:avLst/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5276088"/>
            <a:ext cx="5303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/>
            </a:r>
            <a:r>
              <a:rPr b="1" sz="1200">
                <a:solidFill>
                  <a:srgbClr val="1B2A41"/>
                </a:solidFill>
              </a:rPr>
              <a:t>Pin tooling:  </a:t>
            </a:r>
            <a:r>
              <a:rPr sz="1200">
                <a:solidFill>
                  <a:srgbClr val="222222"/>
                </a:solidFill>
              </a:rPr>
              <a:t>npm run db:*, never npx prisma</a:t>
            </a:r>
          </a:p>
        </p:txBody>
      </p:sp>
      <p:sp>
        <p:nvSpPr>
          <p:cNvPr id="32" name="Oval 31"/>
          <p:cNvSpPr/>
          <p:nvPr/>
        </p:nvSpPr>
        <p:spPr>
          <a:xfrm>
            <a:off x="6172200" y="5367528"/>
            <a:ext cx="146304" cy="146304"/>
          </a:xfrm>
          <a:prstGeom prst="ellipse">
            <a:avLst/>
          </a:prstGeom>
          <a:solidFill>
            <a:srgbClr val="1A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2" y="5276088"/>
            <a:ext cx="5303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/>
            </a:r>
            <a:r>
              <a:rPr b="1" sz="1200">
                <a:solidFill>
                  <a:srgbClr val="1B2A41"/>
                </a:solidFill>
              </a:rPr>
              <a:t>Sync after merge:  </a:t>
            </a:r>
            <a:r>
              <a:rPr sz="1200">
                <a:solidFill>
                  <a:srgbClr val="222222"/>
                </a:solidFill>
              </a:rPr>
              <a:t>install → migrate → generate → seed</a:t>
            </a:r>
          </a:p>
        </p:txBody>
      </p:sp>
      <p:sp>
        <p:nvSpPr>
          <p:cNvPr id="34" name="Oval 33"/>
          <p:cNvSpPr/>
          <p:nvPr/>
        </p:nvSpPr>
        <p:spPr>
          <a:xfrm>
            <a:off x="548640" y="5934456"/>
            <a:ext cx="146304" cy="146304"/>
          </a:xfrm>
          <a:prstGeom prst="ellipse">
            <a:avLst/>
          </a:prstGeom>
          <a:solidFill>
            <a:srgbClr val="C78A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843016"/>
            <a:ext cx="5303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/>
            </a:r>
            <a:r>
              <a:rPr b="1" sz="1200">
                <a:solidFill>
                  <a:srgbClr val="1B2A41"/>
                </a:solidFill>
              </a:rPr>
              <a:t>Traceability:  </a:t>
            </a:r>
            <a:r>
              <a:rPr sz="1200">
                <a:solidFill>
                  <a:srgbClr val="222222"/>
                </a:solidFill>
              </a:rPr>
              <a:t>FR-IDs flow from BRD to issues, design, tests</a:t>
            </a:r>
          </a:p>
        </p:txBody>
      </p:sp>
      <p:sp>
        <p:nvSpPr>
          <p:cNvPr id="36" name="Oval 35"/>
          <p:cNvSpPr/>
          <p:nvPr/>
        </p:nvSpPr>
        <p:spPr>
          <a:xfrm>
            <a:off x="6172200" y="5934456"/>
            <a:ext cx="146304" cy="146304"/>
          </a:xfrm>
          <a:prstGeom prst="ellipse">
            <a:avLst/>
          </a:prstGeom>
          <a:solidFill>
            <a:srgbClr val="2F6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2" y="5843016"/>
            <a:ext cx="5303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Calibri"/>
              </a:rPr>
              <a:t/>
            </a:r>
            <a:r>
              <a:rPr b="1" sz="1200">
                <a:solidFill>
                  <a:srgbClr val="1B2A41"/>
                </a:solidFill>
              </a:rPr>
              <a:t>Humans own quality:  </a:t>
            </a:r>
            <a:r>
              <a:rPr sz="1200">
                <a:solidFill>
                  <a:srgbClr val="222222"/>
                </a:solidFill>
              </a:rPr>
              <a:t>every PR reviewed against acceptance criteria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